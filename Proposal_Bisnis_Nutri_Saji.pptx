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C75B39"/>
                </a:solidFill>
                <a:latin typeface="Playfair Display"/>
              </a:defRPr>
            </a:pPr>
            <a:r>
              <a:t>NUTRI SAJI</a:t>
            </a:r>
          </a:p>
          <a:p>
            <a:pPr>
              <a:spcBef>
                <a:spcPts val="1200"/>
              </a:spcBef>
              <a:defRPr sz="2800" b="1">
                <a:solidFill>
                  <a:srgbClr val="2C3E50"/>
                </a:solidFill>
                <a:latin typeface="Inter"/>
              </a:defRPr>
            </a:pPr>
            <a:r>
              <a:t>Ramen Tori Paitan 100% Halal di Palembang</a:t>
            </a:r>
          </a:p>
          <a:p>
            <a:pPr>
              <a:spcBef>
                <a:spcPts val="2000"/>
              </a:spcBef>
              <a:defRPr sz="1800">
                <a:solidFill>
                  <a:srgbClr val="737373"/>
                </a:solidFill>
                <a:latin typeface="Inter"/>
              </a:defRPr>
            </a:pPr>
            <a:r>
              <a:t>Proposal Bisnis Kemitraan Syariah: Zero Gharar, Simetri Informasi, &amp; Tanpa Riba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Latar Belakang: Keraguan Halal di Pasar Ramen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DC2626"/>
                </a:solidFill>
                <a:latin typeface="Inter"/>
              </a:defRPr>
            </a:pPr>
            <a:r>
              <a:t>Mengapa Konsumen Ragu?</a:t>
            </a:r>
          </a:p>
          <a:p>
            <a:pPr>
              <a:spcBef>
                <a:spcPts val="1000"/>
              </a:spcBef>
              <a:defRPr b="1" sz="1400">
                <a:solidFill>
                  <a:srgbClr val="1A1A1A"/>
                </a:solidFill>
              </a:defRPr>
            </a:pPr>
            <a:r>
              <a:t>• Penggunaan Bahan Syubhat/Haram:</a:t>
            </a:r>
          </a:p>
          <a:p>
            <a:pPr>
              <a:spcAft>
                <a:spcPts val="1000"/>
              </a:spcAft>
              <a:defRPr sz="1300">
                <a:solidFill>
                  <a:srgbClr val="737373"/>
                </a:solidFill>
              </a:defRPr>
            </a:pPr>
            <a:r>
              <a:t>Restoran ramen Jepang konvensional sangat bergantung pada mirin, sake (alkohol), lard (lemak babi), dan kecap asin non-halal.</a:t>
            </a:r>
          </a:p>
          <a:p>
            <a:pPr>
              <a:spcBef>
                <a:spcPts val="1000"/>
              </a:spcBef>
              <a:defRPr b="1" sz="1400">
                <a:solidFill>
                  <a:srgbClr val="1A1A1A"/>
                </a:solidFill>
              </a:defRPr>
            </a:pPr>
            <a:r>
              <a:t>• Ketiadaan Transparansi Bahan:</a:t>
            </a:r>
          </a:p>
          <a:p>
            <a:pPr>
              <a:spcAft>
                <a:spcPts val="1000"/>
              </a:spcAft>
              <a:defRPr sz="1300">
                <a:solidFill>
                  <a:srgbClr val="737373"/>
                </a:solidFill>
              </a:defRPr>
            </a:pPr>
            <a:r>
              <a:t>Kedai menyembunyikan resep dapur, membuat konsumen muslim khawatir akan kontaminasi silang atau bahan tak dikenal.</a:t>
            </a:r>
          </a:p>
          <a:p>
            <a:pPr>
              <a:spcBef>
                <a:spcPts val="1000"/>
              </a:spcBef>
              <a:defRPr b="1" sz="1400">
                <a:solidFill>
                  <a:srgbClr val="1A1A1A"/>
                </a:solidFill>
              </a:defRPr>
            </a:pPr>
            <a:r>
              <a:t>• Harga Abu-Abu (Gharar):</a:t>
            </a:r>
          </a:p>
          <a:p>
            <a:pPr>
              <a:spcAft>
                <a:spcPts val="1000"/>
              </a:spcAft>
              <a:defRPr sz="1300">
                <a:solidFill>
                  <a:srgbClr val="737373"/>
                </a:solidFill>
              </a:defRPr>
            </a:pPr>
            <a:r>
              <a:t>Biaya tak terduga seperti service charge dan tax siluman yang baru ditambahkan saat pembayaran di kasir.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DF8F0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b="1" sz="1200">
                <a:solidFill>
                  <a:srgbClr val="D4A843"/>
                </a:solidFill>
              </a:defRPr>
            </a:pPr>
            <a:r>
              <a:t>DAMPAK BAGI KONSUMEN</a:t>
            </a:r>
          </a:p>
          <a:p>
            <a:pPr>
              <a:spcBef>
                <a:spcPts val="1400"/>
              </a:spcBef>
              <a:defRPr sz="1600">
                <a:solidFill>
                  <a:srgbClr val="2C3E50"/>
                </a:solidFill>
              </a:defRPr>
            </a:pPr>
            <a:r>
              <a:t>Adanya rasa cemas (syubhat) saat makan ramen menurunkan kualitas pengalaman kuliner pelanggan muslim. Hal ini membuka peluang bisnis besar bagi kedai yang berani menjamin 100% kehalalan secara radikal dan jujur.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Solusi Nutri Saji: Rekonstruksi Bahan Baku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C75B39"/>
                </a:solidFill>
                <a:latin typeface="Inter"/>
              </a:defRPr>
            </a:pPr>
            <a:r>
              <a:t>Menghadirkan Cita Rasa Autentik Tanpa Kompromi Syariah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500">
                <a:solidFill>
                  <a:srgbClr val="2C3E50"/>
                </a:solidFill>
              </a:defRPr>
            </a:pPr>
            <a:r>
              <a:t>1. Kaldu Paitan Alami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</a:defRPr>
            </a:pPr>
            <a:r>
              <a:t>Kami merebus tulang ayam segar pilihan (bersertifikat syar'i) selama lebih dari 8 jam untuk mengekstrak kolagen alami sehingga menghasilkan kuah kental gurih murni tanpa pengental sintetis.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377440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500">
                <a:solidFill>
                  <a:srgbClr val="2C3E50"/>
                </a:solidFill>
              </a:defRPr>
            </a:pPr>
            <a:r>
              <a:t>2. Reduksi Apel &amp; Jamur Premium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</a:defRPr>
            </a:pPr>
            <a:r>
              <a:t>Sebagai pengganti mirin dan sake, kami menggunakan kombinasi jus apel Fuji matang, kaldu jamur shiitake kering, dan madu hutan murni yang dipanaskan perlahan.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500">
                <a:solidFill>
                  <a:srgbClr val="2C3E50"/>
                </a:solidFill>
              </a:defRPr>
            </a:pPr>
            <a:r>
              <a:t>3. Minyak Schmaltz Khusus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</a:defRPr>
            </a:pPr>
            <a:r>
              <a:t>Lemak babi (lard) digantikan dengan lemak kulit ayam yang dicairkan perlahan pada suhu rendah untuk memberikan rasa gurih yang mewah dan bersih.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97680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500">
                <a:solidFill>
                  <a:srgbClr val="2C3E50"/>
                </a:solidFill>
              </a:defRPr>
            </a:pPr>
            <a:r>
              <a:t>4. Shoyu Halal MUI Asli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</a:defRPr>
            </a:pPr>
            <a:r>
              <a:t>Menggunakan kecap asin Jepang bersertifikasi resmi Halal MUI dengan kandungan alkohol 0.0% sejak awal pembuatan.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Anatomi Transparansi Bahan Baku (Komparasi Radikal)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C3E50"/>
                </a:solidFill>
              </a:defRPr>
            </a:pPr>
            <a:r>
              <a:t>KATEGORI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RAMEN JEPANG KONVENSIONAL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C75B39"/>
                </a:solidFill>
              </a:defRPr>
            </a:pPr>
            <a:r>
              <a:t>SOLUSI HALAL NUTRI SAJI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Kaldu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37373"/>
                </a:solidFill>
              </a:defRPr>
            </a:pPr>
            <a:r>
              <a:t>Tonkotsu (Tulang Babi) / MSG Sintetis berlebih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488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Tori Paitan (Tulang Ayam Syar'i rebus 8 jam)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Pemanis &amp; Aroma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37373"/>
                </a:solidFill>
              </a:defRPr>
            </a:pPr>
            <a:r>
              <a:t>Mirin &amp; Sake (Alkohol fermentasi berasa manis)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0175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Ekstrak Apel Fuji &amp; Jamur Shiitake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19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Minyak Kuah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8619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37373"/>
                </a:solidFill>
              </a:defRPr>
            </a:pPr>
            <a:r>
              <a:t>Lard (Minyak dari Lemak Babi mentah)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88619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Chicken Schmaltz (Minyak Kulit Ayam murni)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09159"/>
            <a:ext cx="10698480" cy="73152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7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Kecap Shoyu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7548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37373"/>
                </a:solidFill>
              </a:defRPr>
            </a:pPr>
            <a:r>
              <a:t>Shoyu Konvensional dengan residu alkohol aktif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754879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Shoyu bersertifikat 100% Halal MUI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Sistem Akad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6235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737373"/>
                </a:solidFill>
              </a:defRPr>
            </a:pPr>
            <a:r>
              <a:t>Gharar (Harga belum termasuk tax siluman)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6235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Pajak Restoran (PB1) sudah nett di awal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Pilar Kepatuhan Syariah &amp; Kejelasan Akad (Zero Gharar)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C75B39"/>
                </a:solidFill>
              </a:defRPr>
            </a:pPr>
            <a:r>
              <a:t>1. Simetri Informasi (Harga Pas)</a:t>
            </a:r>
          </a:p>
          <a:p>
            <a:pPr>
              <a:spcBef>
                <a:spcPts val="800"/>
              </a:spcBef>
              <a:defRPr b="1" sz="1400">
                <a:solidFill>
                  <a:srgbClr val="2C3E50"/>
                </a:solidFill>
              </a:defRPr>
            </a:pPr>
            <a:r>
              <a:t>✔ Harga Nett Sejak Awal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Semua harga menu di brosur, website, dan kedai adalah harga final yang harus dibayar konsumen.</a:t>
            </a:r>
          </a:p>
          <a:p>
            <a:pPr>
              <a:spcBef>
                <a:spcPts val="800"/>
              </a:spcBef>
              <a:defRPr b="1" sz="1400">
                <a:solidFill>
                  <a:srgbClr val="2C3E50"/>
                </a:solidFill>
              </a:defRPr>
            </a:pPr>
            <a:r>
              <a:t>✔ Sudah Termasuk PB1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Tidak ada penambahan biaya pajak restoran (PB1) atau service fee di kasir yang membuat pelanggan bingung.</a:t>
            </a:r>
          </a:p>
          <a:p>
            <a:pPr>
              <a:spcBef>
                <a:spcPts val="800"/>
              </a:spcBef>
              <a:defRPr b="1" sz="1400">
                <a:solidFill>
                  <a:srgbClr val="2C3E50"/>
                </a:solidFill>
              </a:defRPr>
            </a:pPr>
            <a:r>
              <a:t>✔ Transparansi Resep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Semua bahan tertulis jelas di menu. Konsumen berhak mengetahui apa yang masuk ke tubuh mereka.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C75B39"/>
                </a:solidFill>
              </a:defRPr>
            </a:pPr>
            <a:r>
              <a:t>2. Penolakan Fasilitas Utang Riba</a:t>
            </a:r>
          </a:p>
          <a:p>
            <a:pPr>
              <a:spcBef>
                <a:spcPts val="800"/>
              </a:spcBef>
              <a:defRPr b="1" sz="1400">
                <a:solidFill>
                  <a:srgbClr val="2C3E50"/>
                </a:solidFill>
              </a:defRPr>
            </a:pPr>
            <a:r>
              <a:t>✔ Tidak Menerima Paylater / Kartu Kredit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Pembayaran secara tegas dibatasi hanya menggunakan Debit, Tunai, atau E-Wallet langsung.</a:t>
            </a:r>
          </a:p>
          <a:p>
            <a:pPr>
              <a:spcBef>
                <a:spcPts val="800"/>
              </a:spcBef>
              <a:defRPr b="1" sz="1400">
                <a:solidFill>
                  <a:srgbClr val="2C3E50"/>
                </a:solidFill>
              </a:defRPr>
            </a:pPr>
            <a:r>
              <a:t>✔ Komitmen Akad Bersih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Pelanggan secara sadar menyetujui akad pembelian menggunakan dana miliknya sendiri tanpa bunga.</a:t>
            </a:r>
          </a:p>
          <a:p>
            <a:pPr>
              <a:spcBef>
                <a:spcPts val="800"/>
              </a:spcBef>
              <a:defRPr b="1" sz="1400">
                <a:solidFill>
                  <a:srgbClr val="2C3E50"/>
                </a:solidFill>
              </a:defRPr>
            </a:pPr>
            <a:r>
              <a:t>✔ Bara'ah al-Dhimmah (Pelepasan Tanggung Jawab)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Menggeser tanggung jawab teologis dari penjual kepada pembeli secara jelas di kasir.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Daftar Menu Utama &amp; Transparansi Harga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DF8F0"/>
          </a:solidFill>
          <a:ln w="1905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bIns="228600" rIns="228600"/>
          <a:lstStyle/>
          <a:p>
            <a:pPr algn="ctr">
              <a:defRPr b="1" sz="1000">
                <a:solidFill>
                  <a:srgbClr val="D4A843"/>
                </a:solidFill>
              </a:defRPr>
            </a:pPr>
            <a:r>
              <a:t>BEST SELLER — KALDU KOLAGEN</a:t>
            </a:r>
          </a:p>
          <a:p>
            <a:pPr>
              <a:spcBef>
                <a:spcPts val="600"/>
              </a:spcBef>
              <a:defRPr b="1" sz="1800">
                <a:solidFill>
                  <a:srgbClr val="2C3E50"/>
                </a:solidFill>
              </a:defRPr>
            </a:pPr>
            <a:r>
              <a:t>Signature Tori Paitan</a:t>
            </a:r>
          </a:p>
          <a:p>
            <a:pPr>
              <a:spcBef>
                <a:spcPts val="800"/>
              </a:spcBef>
              <a:defRPr b="1" sz="2200">
                <a:solidFill>
                  <a:srgbClr val="C75B39"/>
                </a:solidFill>
              </a:defRPr>
            </a:pPr>
            <a:r>
              <a:t>Rp 35.000</a:t>
            </a:r>
          </a:p>
          <a:p>
            <a:pPr>
              <a:spcBef>
                <a:spcPts val="1200"/>
              </a:spcBef>
              <a:defRPr b="1" sz="1100">
                <a:solidFill>
                  <a:srgbClr val="2C3E50"/>
                </a:solidFill>
              </a:defRPr>
            </a:pPr>
            <a:r>
              <a:t>Komposisi Bahan: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Mie lurus kecil, kuah kaldu ayam pekat 8 jam, ayam chashu halal, jamur kikurage, daun bawang, nori.</a:t>
            </a:r>
          </a:p>
          <a:p>
            <a:pPr>
              <a:spcBef>
                <a:spcPts val="1000"/>
              </a:spcBef>
              <a:defRPr sz="1100" i="1">
                <a:solidFill>
                  <a:srgbClr val="737373"/>
                </a:solidFill>
              </a:defRPr>
            </a:pPr>
            <a:r>
              <a:t>Kaldu kolagen kental yang penuh dengan umami alami ayam segar.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DF8F0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bIns="228600" rIns="228600"/>
          <a:lstStyle/>
          <a:p>
            <a:pPr algn="ctr">
              <a:defRPr b="1" sz="1000">
                <a:solidFill>
                  <a:srgbClr val="D4A843"/>
                </a:solidFill>
              </a:defRPr>
            </a:pPr>
            <a:r>
              <a:t>PEDAS NENDANG — RASA WIJEN</a:t>
            </a:r>
          </a:p>
          <a:p>
            <a:pPr>
              <a:spcBef>
                <a:spcPts val="600"/>
              </a:spcBef>
              <a:defRPr b="1" sz="1800">
                <a:solidFill>
                  <a:srgbClr val="2C3E50"/>
                </a:solidFill>
              </a:defRPr>
            </a:pPr>
            <a:r>
              <a:t>Spicy Tantanmen</a:t>
            </a:r>
          </a:p>
          <a:p>
            <a:pPr>
              <a:spcBef>
                <a:spcPts val="800"/>
              </a:spcBef>
              <a:defRPr b="1" sz="2200">
                <a:solidFill>
                  <a:srgbClr val="C75B39"/>
                </a:solidFill>
              </a:defRPr>
            </a:pPr>
            <a:r>
              <a:t>Rp 38.000</a:t>
            </a:r>
          </a:p>
          <a:p>
            <a:pPr>
              <a:spcBef>
                <a:spcPts val="1200"/>
              </a:spcBef>
              <a:defRPr b="1" sz="1100">
                <a:solidFill>
                  <a:srgbClr val="2C3E50"/>
                </a:solidFill>
              </a:defRPr>
            </a:pPr>
            <a:r>
              <a:t>Komposisi Bahan: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Mie keriting tebal, kuah kaldu ayam pedas, daging ayam cincang berbumbu, pak choy, wijen sangrai, cabai kering.</a:t>
            </a:r>
          </a:p>
          <a:p>
            <a:pPr>
              <a:spcBef>
                <a:spcPts val="1000"/>
              </a:spcBef>
              <a:defRPr sz="1100" i="1">
                <a:solidFill>
                  <a:srgbClr val="737373"/>
                </a:solidFill>
              </a:defRPr>
            </a:pPr>
            <a:r>
              <a:t>Sensasi kuah pedas wijen gurih dengan topping melimpah.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DF8F0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bIns="228600" rIns="228600"/>
          <a:lstStyle/>
          <a:p>
            <a:pPr algn="ctr">
              <a:defRPr b="1" sz="1000">
                <a:solidFill>
                  <a:srgbClr val="D4A843"/>
                </a:solidFill>
              </a:defRPr>
            </a:pPr>
            <a:r>
              <a:t>AMAN UNTUK ANAK — KUAH BENING</a:t>
            </a:r>
          </a:p>
          <a:p>
            <a:pPr>
              <a:spcBef>
                <a:spcPts val="600"/>
              </a:spcBef>
              <a:defRPr b="1" sz="1800">
                <a:solidFill>
                  <a:srgbClr val="2C3E50"/>
                </a:solidFill>
              </a:defRPr>
            </a:pPr>
            <a:r>
              <a:t>Shoyu Ramen Classic</a:t>
            </a:r>
          </a:p>
          <a:p>
            <a:pPr>
              <a:spcBef>
                <a:spcPts val="800"/>
              </a:spcBef>
              <a:defRPr b="1" sz="2200">
                <a:solidFill>
                  <a:srgbClr val="C75B39"/>
                </a:solidFill>
              </a:defRPr>
            </a:pPr>
            <a:r>
              <a:t>Rp 32.000</a:t>
            </a:r>
          </a:p>
          <a:p>
            <a:pPr>
              <a:spcBef>
                <a:spcPts val="1200"/>
              </a:spcBef>
              <a:defRPr b="1" sz="1100">
                <a:solidFill>
                  <a:srgbClr val="2C3E50"/>
                </a:solidFill>
              </a:defRPr>
            </a:pPr>
            <a:r>
              <a:t>Komposisi Bahan: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Mie lurus kecil, kuah kaldu ayam shoyu halal, telur ajitama setengah matang, nori, jagung manis, daun bawang.</a:t>
            </a:r>
          </a:p>
          <a:p>
            <a:pPr>
              <a:spcBef>
                <a:spcPts val="1000"/>
              </a:spcBef>
              <a:defRPr sz="1100" i="1">
                <a:solidFill>
                  <a:srgbClr val="737373"/>
                </a:solidFill>
              </a:defRPr>
            </a:pPr>
            <a:r>
              <a:t>Ramen kuah shoyu bening yang segar, gurih halus, dan ramah anak.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Model Operasional: Menghindari Gharar Kualitas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2C3E50"/>
                </a:solidFill>
              </a:defRPr>
            </a:pPr>
            <a:r>
              <a:t>Makan di Tempat &amp; Ambil Sendiri (Self-Pickup)</a:t>
            </a:r>
          </a:p>
          <a:p>
            <a:pPr>
              <a:spcBef>
                <a:spcPts val="800"/>
              </a:spcBef>
              <a:defRPr b="1" sz="1400">
                <a:solidFill>
                  <a:srgbClr val="C75B39"/>
                </a:solidFill>
              </a:defRPr>
            </a:pPr>
            <a:r>
              <a:t>🎯 Mencegah Mie Mengembang (Gharar Kualitas)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Ramen segar sangat sensitif terhadap waktu. Pengantaran ojek online berisiko membuat mie dingin dan kaldu tidak segar saat tiba di tangan pelanggan.</a:t>
            </a:r>
          </a:p>
          <a:p>
            <a:pPr>
              <a:spcBef>
                <a:spcPts val="800"/>
              </a:spcBef>
              <a:defRPr b="1" sz="1400">
                <a:solidFill>
                  <a:srgbClr val="C75B39"/>
                </a:solidFill>
              </a:defRPr>
            </a:pPr>
            <a:r>
              <a:t>🎯 Komitmen Kepuasan Akad Jual Beli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Kita hanya menyerahkan produk dalam kualitas prima langsung di kedai sehingga tidak ada pihak yang dirugikan.</a:t>
            </a:r>
          </a:p>
          <a:p>
            <a:pPr>
              <a:spcBef>
                <a:spcPts val="800"/>
              </a:spcBef>
              <a:defRPr b="1" sz="1400">
                <a:solidFill>
                  <a:srgbClr val="C75B39"/>
                </a:solidFill>
              </a:defRPr>
            </a:pPr>
            <a:r>
              <a:t>🎯 Dapur Terbuka (Open Kitchen)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Menghilangkan keraguan konsumen dengan memperlihatkan proses peracikan secara higienis di depan mata pelanggan.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bIns="365760" rIns="365760"/>
          <a:lstStyle/>
          <a:p>
            <a:pPr algn="ctr">
              <a:defRPr b="1" sz="1200">
                <a:solidFill>
                  <a:srgbClr val="D4A843"/>
                </a:solidFill>
              </a:defRPr>
            </a:pPr>
            <a:r>
              <a:t>ALUR OPERASIONAL KEDAI</a:t>
            </a:r>
          </a:p>
          <a:p>
            <a:pPr>
              <a:spcBef>
                <a:spcPts val="1400"/>
              </a:spcBef>
              <a:defRPr sz="1400">
                <a:solidFill>
                  <a:srgbClr val="2C3E50"/>
                </a:solidFill>
              </a:defRPr>
            </a:pPr>
            <a:r>
              <a:t>• Lokasi Stand:</a:t>
            </a:r>
            <a:br/>
            <a:r>
              <a:t>Jl. Sudirman, Palembang (Lokasi Strategis)</a:t>
            </a:r>
            <a:br/>
            <a:br/>
            <a:r>
              <a:t>• Waktu Operasional:</a:t>
            </a:r>
            <a:br/>
            <a:r>
              <a:t>Selasa s.d. Minggu (16:00 - 22:00 WIB)</a:t>
            </a:r>
            <a:br/>
            <a:r>
              <a:t>Senin: Libur untuk pembersihan total kedai</a:t>
            </a:r>
            <a:br/>
            <a:br/>
            <a:r>
              <a:t>• Pemesanan Pra-Kedatangan:</a:t>
            </a:r>
            <a:br/>
            <a:r>
              <a:t>Pelanggan dapat melakukan pemesanan via WhatsApp sebelum datang agar antrean rapi dan mie disiapkan tepat waktu saat tiba.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Rencana Pemasaran &amp; Target Audiens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2000">
                <a:solidFill>
                  <a:srgbClr val="2C3E50"/>
                </a:solidFill>
              </a:defRPr>
            </a:pPr>
            <a:r>
              <a:t>Strategi Penetrasi Pasar Kuliner Palembang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029200" cy="1645920"/>
          </a:xfrm>
          <a:prstGeom prst="rect">
            <a:avLst/>
          </a:prstGeom>
          <a:solidFill>
            <a:srgbClr val="FDF8F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📢 Kejujuran Ekstrem (Radical Honesty)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</a:defRPr>
            </a:pPr>
            <a:r>
              <a:t>Kampanye pemasaran fokus pada edukasi bahan syubhat kuliner Jepang umum dan menunjukkan solusi halal yang kami gunakan. Transparansi adalah daya tarik utama.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377440"/>
            <a:ext cx="5029200" cy="1645920"/>
          </a:xfrm>
          <a:prstGeom prst="rect">
            <a:avLst/>
          </a:prstGeom>
          <a:solidFill>
            <a:srgbClr val="FDF8F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📢 Target Audiens Terfokus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</a:defRPr>
            </a:pPr>
            <a:r>
              <a:t>Keluarga muslim kelas menengah, mahasiswa/pemuda pecinta budaya pop Jepang, serta komunitas sadar halal (halal-conscious) di Palembang.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5029200" cy="1645920"/>
          </a:xfrm>
          <a:prstGeom prst="rect">
            <a:avLst/>
          </a:prstGeom>
          <a:solidFill>
            <a:srgbClr val="FDF8F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📢 Pemasaran Digital Lokal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</a:defRPr>
            </a:pPr>
            <a:r>
              <a:t>Optimasi Google Maps lokal, ulasan influencer kuliner Palembang berbasis kejujuran, serta konten edukasi anatomi ramen di Instagram &amp; TikTok.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97680"/>
            <a:ext cx="5029200" cy="1645920"/>
          </a:xfrm>
          <a:prstGeom prst="rect">
            <a:avLst/>
          </a:prstGeom>
          <a:solidFill>
            <a:srgbClr val="FDF8F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📢 Efek Getok Tular (Word-of-Mouth)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</a:defRPr>
            </a:pPr>
            <a:r>
              <a:t>Cita rasa kaldu kolagen ayam kental 8 jam yang sangat khas akan mendorong rekomendasi alami dari mulut ke mulut secara organik.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Playfair Display"/>
              </a:defRPr>
            </a:pPr>
            <a:r>
              <a:t>Analisis Keuangan &amp; Proyeksi BEP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Investasi Awal</a:t>
            </a:r>
          </a:p>
          <a:p>
            <a:pPr algn="ctr">
              <a:spcBef>
                <a:spcPts val="800"/>
              </a:spcBef>
              <a:defRPr b="1" sz="2800">
                <a:solidFill>
                  <a:srgbClr val="C75B39"/>
                </a:solidFill>
              </a:defRPr>
            </a:pPr>
            <a:r>
              <a:t>Rp 85 Juta</a:t>
            </a:r>
          </a:p>
          <a:p>
            <a:pPr algn="ctr">
              <a:spcBef>
                <a:spcPts val="800"/>
              </a:spcBef>
              <a:defRPr sz="1000">
                <a:solidFill>
                  <a:srgbClr val="737373"/>
                </a:solidFill>
              </a:defRPr>
            </a:pPr>
            <a:r>
              <a:t>Sewa tempat, renovasi kedai terbuka, peralatan dapur, dan modal kerja awal.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Margin Kotor</a:t>
            </a:r>
          </a:p>
          <a:p>
            <a:pPr algn="ctr">
              <a:spcBef>
                <a:spcPts val="800"/>
              </a:spcBef>
              <a:defRPr b="1" sz="2800">
                <a:solidFill>
                  <a:srgbClr val="C75B39"/>
                </a:solidFill>
              </a:defRPr>
            </a:pPr>
            <a:r>
              <a:t>60% - 65%</a:t>
            </a:r>
          </a:p>
          <a:p>
            <a:pPr algn="ctr">
              <a:spcBef>
                <a:spcPts val="800"/>
              </a:spcBef>
              <a:defRPr sz="1000">
                <a:solidFill>
                  <a:srgbClr val="737373"/>
                </a:solidFill>
              </a:defRPr>
            </a:pPr>
            <a:r>
              <a:t>Biaya bahan baku per mangkok rata-rata berkisar di angka Rp 12.000 - Rp 14.000.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3832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bIns="182880" rIns="182880"/>
          <a:lstStyle/>
          <a:p>
            <a:pPr algn="ctr">
              <a:defRPr b="1" sz="1400">
                <a:solidFill>
                  <a:srgbClr val="2C3E50"/>
                </a:solidFill>
              </a:defRPr>
            </a:pPr>
            <a:r>
              <a:t>Margin Bersih</a:t>
            </a:r>
          </a:p>
          <a:p>
            <a:pPr algn="ctr">
              <a:spcBef>
                <a:spcPts val="800"/>
              </a:spcBef>
              <a:defRPr b="1" sz="2800">
                <a:solidFill>
                  <a:srgbClr val="C75B39"/>
                </a:solidFill>
              </a:defRPr>
            </a:pPr>
            <a:r>
              <a:t>30% - 35%</a:t>
            </a:r>
          </a:p>
          <a:p>
            <a:pPr algn="ctr">
              <a:spcBef>
                <a:spcPts val="800"/>
              </a:spcBef>
              <a:defRPr sz="1000">
                <a:solidFill>
                  <a:srgbClr val="737373"/>
                </a:solidFill>
              </a:defRPr>
            </a:pPr>
            <a:r>
              <a:t>Setelah dikurangi biaya sewa, gaji karyawan, utilitas kedai, dan penyusutan alat.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2C3E50"/>
                </a:solidFill>
              </a:defRPr>
            </a:pPr>
            <a:r>
              <a:t>PROYEKSI BALIK MODAL (BREAK-EVEN POINT)</a:t>
            </a:r>
          </a:p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• Target Penjualan Harian: Rata-rata 50 mangkok per hari di 3 bulan pertama, meningkat ke 80 mangkok per hari di bulan ke-6.</a:t>
            </a:r>
            <a:br/>
            <a:r>
              <a:t>• Omzet Bulanan Target: Rp 52.500.000 - Rp 84.000.000.</a:t>
            </a:r>
            <a:br/>
            <a:r>
              <a:t>• BEP Operasional Kedai: Bulan ke-2 (arus kas positif sejak awal).</a:t>
            </a:r>
            <a:br/>
            <a:r>
              <a:t>• Balik Modal Investasi (ROI): Ditargetkan penuh pada bulan ke-10 s.d. bulan ke-12 operasional kedai.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FD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843"/>
                </a:solidFill>
                <a:latin typeface="Playfair Display"/>
              </a:defRPr>
            </a:pPr>
            <a:r>
              <a:t>Visi Jangka Panjang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Menjadi pelopor kedai ramen 100% halal dan transparan yang dipercaya oleh masyarakat Palembang, lalu memperluas keberkahan ini ke kota-kota lain di Indonesia melalui skema kemitraan syirkah bebas riba.</a:t>
            </a:r>
          </a:p>
          <a:p>
            <a:pPr>
              <a:spcBef>
                <a:spcPts val="2000"/>
              </a:spcBef>
              <a:defRPr sz="1400">
                <a:solidFill>
                  <a:srgbClr val="D4A843"/>
                </a:solidFill>
              </a:defRPr>
            </a:pPr>
            <a:r>
              <a:t>Kami mengundang Anda bergabung sebagai mitra pemodal dalam skema Mudharabah yang adil dan bersih dari akad bathil.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75B39"/>
                </a:solidFill>
                <a:latin typeface="Inter"/>
              </a:defRPr>
            </a:pPr>
            <a:r>
              <a:t>Hubungi Kemitraan</a:t>
            </a:r>
          </a:p>
          <a:p>
            <a:pPr>
              <a:spcBef>
                <a:spcPts val="1000"/>
              </a:spcBef>
              <a:defRPr sz="1300">
                <a:solidFill>
                  <a:srgbClr val="737373"/>
                </a:solidFill>
              </a:defRPr>
            </a:pPr>
            <a:r>
              <a:t>Mari berdiskusi lebih lanjut untuk menyatukan visi kuliner halal ini.</a:t>
            </a:r>
          </a:p>
          <a:p>
            <a:pPr>
              <a:spcBef>
                <a:spcPts val="2000"/>
              </a:spcBef>
              <a:defRPr sz="1400" b="1">
                <a:solidFill>
                  <a:srgbClr val="2C3E50"/>
                </a:solidFill>
              </a:defRPr>
            </a:pPr>
            <a:r>
              <a:t>📍 Lokasi Kedai:</a:t>
            </a:r>
            <a:br/>
            <a:r>
              <a:t>Jl. Sudirman (Samping X), Palembang</a:t>
            </a:r>
            <a:br/>
            <a:br/>
            <a:r>
              <a:t>💬 Kontak WhatsApp:</a:t>
            </a:r>
            <a:br/>
            <a:r>
              <a:t>+62 811-1222-333</a:t>
            </a:r>
            <a:br/>
            <a:br/>
            <a:r>
              <a:t>🌐 Website Catalog:</a:t>
            </a:r>
            <a:br/>
            <a:r>
              <a:t>www.nutrisaji.com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